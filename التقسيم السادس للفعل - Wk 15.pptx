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926080" cy="2926080"/>
          </a:xfrm>
          <a:prstGeom prst="ellipse">
            <a:avLst/>
          </a:prstGeom>
          <a:solidFill>
            <a:srgbClr val="1230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E4C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شذا العرف في فن الصرف  ·  الأسبوع 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التقسيمُ السادسُ للفعل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E4C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مِن حيثُ بناؤُه للفاعل أو للمفعول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CFE3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VI of the Verb — Voice: Active (Maʿlūm) &amp; Passive (Majhūl)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306324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3264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مبنيٌّ للفاعل (معلوم)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65392" y="372160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58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— the doer is stated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65392" y="4114800"/>
            <a:ext cx="461772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42519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وهو ما ذُكِرَ معه فاعلُه.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4937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doer (fāʿil) is explicitly named.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65392" y="5458968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F7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6702552" y="5513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نحو: حَفِظَ محمدٌ الدرسَ.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02552" y="5806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“Muḥammad memorized the lesson.”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0664" y="306324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4984" y="32644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مبنيٌّ للمفعول (مجهول)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4984" y="372160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B58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— the doer is hidden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4984" y="4114800"/>
            <a:ext cx="461772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42519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وهو ما حُذِفَ فاعِلُه (أي غير مذكور).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4984" y="4937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doer is dropped — unnamed or unknown.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4984" y="5458968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F7F5EE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5513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نحو: حُفِظَ الدرسُ.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2144" y="5806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lesson was memorized.”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أسبابُ حذفِ الفاعل، ونائبُه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B5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doer is dropped — and what stands in its place (nāʿib al-fāʿil)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19872" y="14173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5EE"/>
          </a:solidFill>
          <a:ln/>
        </p:spPr>
      </p:sp>
      <p:sp>
        <p:nvSpPr>
          <p:cNvPr id="5" name="Text 3"/>
          <p:cNvSpPr/>
          <p:nvPr/>
        </p:nvSpPr>
        <p:spPr>
          <a:xfrm>
            <a:off x="8348472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الجهلُ به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48472" y="1920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 speaker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48472" y="2258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سُرِقَ المتاعُ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48472" y="2532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property was stolen.”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5E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العلمُ به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to listener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2258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أُنزِلَ المطرُ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532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rain was sent down.”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14173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7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1554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الإنابةُ عنه بغيره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78408" y="1920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a substitute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78408" y="2258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حُفِظَ الدرسُ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78408" y="2532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fāʿil's slot.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i="1" dirty="0">
                <a:solidFill>
                  <a:srgbClr val="5B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الأصلُ في باب النيابةِ المفعولُ به، ولا تصحُّ نيابةُ غيرِه عند سيبويه ومن وافقه، وأجاز الكوفيّون نيابةَ غير المفعول به مطلقًا.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367588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وينوبُ عن الفاعل: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19872" y="413308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B4336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427024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الجارُّ والمجرور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48472" y="46360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48472" y="49743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لَمَّا سُقِطَ في أيديهم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48472" y="52486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“dropped into their hands.”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413308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B4336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7024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46360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noun (maṣdar)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49743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فإذا نُفِخَ في الصُّورِ نفخةٌ واحدةٌ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63440" y="52486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Trumpet is blown.”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" y="4133088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B4336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" y="427024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الظرف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78408" y="46360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 of time/place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8408" y="49743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سِيمَ رمضانُ  ·  جُلِسَ أمامَ الأميرِ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78408" y="52486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“Ramaḍān was fasted.”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574243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وفي هذه الحالة يجبُ أن تتغيَّرَ صورةُ الفعل عن أصلها.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14476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case, the verb's own form must shift away from its active pattern.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بناءُ الفعل الماضي للمجهول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B5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Forming the Passive Past (al-Fiʿl al-Māḍī li-l-Majhūl) — five patterns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70432" y="1371600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7F5EE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1426464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همزة وصل ولا تاء زائدة أوَّله، وعينه ليست ألفًا: ضَمُّ الأول، وكسرُ ما قبل الآخر.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9032" y="175564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verb: 1st radical → damma, letter before last → kasra.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73952" y="17556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ضَرَبَ ← ضُرِبَ  ·  المُضعَّف بالإدغام: رَدَّ ← رُدَّ (أصلها رُدِدَ)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70432" y="2304288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9032" y="2359152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مبدوءٌ بتاءٍ زائدة: ضَمُّ الثاني مع الأول.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9032" y="2688336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extra tā’: damma both 1st &amp; 2nd letters.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3952" y="268833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تَعَلَّمَ ← تُعُلِّمَ  ·  تَقَاتَلَ ← تُقُوتِلَ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70432" y="3236976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7F5EE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3291840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مبدوءٌ بهمزة وصل: ضَمُّ الثالث مع الأول.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99032" y="362102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hamzat al-waṣl: damma 1st &amp; 3rd letters.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3952" y="362102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انْطَلَقَ ← انْطُلِقَ  ·  اسْتَخْرَجَ ← اسْتُخْرِجَ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70432" y="4169664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4224528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عينُه ألفٌ منقلبة عن ياء: يُكسَرُ أوَّلُه (إخلاص الكسر أو إشمامه الضم).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9032" y="455371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radical alif from yā’: 1st letter takes kasra.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45537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 ← قِيلَ  ·  بَاعَ ← بِيعَ  ·  اخْتَارَ ← اخْتِيرَ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70432" y="5102352"/>
            <a:ext cx="10378440" cy="804672"/>
          </a:xfrm>
          <a:prstGeom prst="roundRect">
            <a:avLst>
              <a:gd name="adj" fmla="val 7955"/>
            </a:avLst>
          </a:prstGeom>
          <a:solidFill>
            <a:srgbClr val="F7F5EE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99032" y="5157216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المُضعَّف الثلاثي: يُضَمُّ فاؤه (وأجاز الكوفيون الكسر، لغة بني ضبَّة).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99032" y="548640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Geminate triliteral: 1st radical takes damma (Kufans: kasra allowed).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73952" y="54864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شَدَّ ← شُدَّ  ·  مَدَّ ← مُدَّ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بناءُ المضارع للمجهول، وشرطُ بناء اللازم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B5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Passive Present, and the special condition for intransitive verbs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B43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يُضَمُّ أوَّلُه ويُفتَحُ ما قبل آخرِه ولو تقديرًا.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letter → damma; letter before last → fatḥa (even if only implied).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0360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يَضْرِبُ ← يُضْرَبُ   ·   يَرُدُّ ← يُرَدُّ (أصلها يُرْدَدُ)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10360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فإن كان ما قبل آخره حرفَ مدٍّ قُلِبَ ألفًا:  يَقُولُ ← يُقَالُ   ·   يَبِيعُ ← يُبَاعُ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يُبنى الفعلُ اللازمُ للمجهول إلا بشرط: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7355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intransitive verb may only be passivized when paired with: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9872" y="363931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3767328"/>
            <a:ext cx="3026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ظرفٌ متصرِّفٌ مختصٌّ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21040" y="426110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specified, inflectable adverb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6817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سِيرَ يومُ الجمعةِ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4956048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“Friday was traveled.”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363931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3767328"/>
            <a:ext cx="3026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مصدرٌ متصرِّفٌ مختصٌّ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36008" y="426110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specified, inflectable verbal noun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6008" y="46817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جُلِسَ جلوسٌ حَسَنٌ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36008" y="4956048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fine sitting was sat.”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363931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7F5EE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3767328"/>
            <a:ext cx="3026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B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مجرورٌ لَزِمَه الجارُّ بطريقةٍ واحدة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0976" y="426110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preposition it always requires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" y="4681728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2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فُرِحَ بقدومِ محمدٍ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976" y="4956048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“joy was felt at his arrival.”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37667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5B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بخلاف الجارِّ غيرِ اللازم كـ عندَ، وإذا، وسُبحانَ، ومَعاذَ — فلا يُبنى الفعلُ معها للمجهول.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74243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fixed, non-obligatory preposition (ʿinda, idhā, subḥāna, maʿādha) — those never take the passive.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A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شذا العرف في فن الصرف — الأسبوع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2026-08-14T15:27:59Z</dcterms:created>
  <dcterms:modified xsi:type="dcterms:W3CDTF">2026-08-14T15:27:59Z</dcterms:modified>
</cp:coreProperties>
</file>